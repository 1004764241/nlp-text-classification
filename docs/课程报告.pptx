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95760" y="0"/>
            <a:ext cx="393192" cy="6858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</a:rPr>
              <a:t>基于 TF-IDF 与支持向量机的</a:t>
            </a:r>
            <a:endParaRPr sz="3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软雅黑"/>
              </a:rPr>
              <a:t>中文商品评论多分类研究</a:t>
            </a:r>
            <a:endParaRPr sz="3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3108960"/>
            <a:ext cx="576072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  <a:latin typeface="微软雅黑"/>
              </a:rPr>
              <a:t>课　　程：自然语言处理</a:t>
            </a:r>
            <a:endParaRPr sz="18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385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  <a:latin typeface="微软雅黑"/>
              </a:rPr>
              <a:t>院　　校：重庆邮电大学</a:t>
            </a:r>
            <a:endParaRPr sz="18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1980" y="4373245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  <a:latin typeface="微软雅黑"/>
              </a:rPr>
              <a:t>学　　期：2025-2026 学年第 2 学期</a:t>
            </a:r>
            <a:endParaRPr sz="1800" b="0" i="0">
              <a:solidFill>
                <a:srgbClr val="BDD7E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目  录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2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01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4440" y="14264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研究背景与意义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02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23408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相关工作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03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4440" y="32552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系统架构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04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34440" y="416966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数据预处理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05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50840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TF-IDF 特征提取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06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78040" y="14264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分类模型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22860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331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07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78040" y="23408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实验设置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32004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08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78040" y="32552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实验结果与分析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4114800"/>
            <a:ext cx="6400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09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78040" y="416966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/>
              </a:rPr>
              <a:t>总结与展望</a:t>
            </a:r>
            <a:endParaRPr sz="1900" b="0" i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研究背景与意义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为什么做中文商品评论分类？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3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00" cy="1508760"/>
          </a:xfrm>
          <a:prstGeom prst="rect">
            <a:avLst/>
          </a:prstGeom>
          <a:solidFill>
            <a:srgbClr val="F2F2F2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09728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075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5B6"/>
                </a:solidFill>
                <a:latin typeface="微软雅黑"/>
              </a:rPr>
              <a:t>📦 数据规模</a:t>
            </a:r>
            <a:endParaRPr sz="17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淘宝、京东每天产生海量用户评论，人工审核效率低下，自动化文本分类需求迫切。</a:t>
            </a:r>
            <a:endParaRPr sz="15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953512"/>
            <a:ext cx="7315200" cy="1508760"/>
          </a:xfrm>
          <a:prstGeom prst="rect">
            <a:avLst/>
          </a:prstGeom>
          <a:solidFill>
            <a:srgbClr val="F2F2F2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53512"/>
            <a:ext cx="109728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2666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55A11"/>
                </a:solidFill>
                <a:latin typeface="微软雅黑"/>
              </a:rPr>
              <a:t>🔤 中文挑战</a:t>
            </a:r>
            <a:endParaRPr sz="17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中文无天然词边界，需专用分词工具；存在大量同义词、歧义词、网络新词；口语化噪声多。</a:t>
            </a:r>
            <a:endParaRPr sz="15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4672583"/>
            <a:ext cx="7315200" cy="150876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672583"/>
            <a:ext cx="109728" cy="150876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4573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78653"/>
                </a:solidFill>
                <a:latin typeface="微软雅黑"/>
              </a:rPr>
              <a:t>🎯 研究目标</a:t>
            </a:r>
            <a:endParaRPr sz="17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148071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构建覆盖 10 类商品评论的自动分类系统，探索 TF-IDF + 经典分类器的性能基线。</a:t>
            </a:r>
            <a:endParaRPr sz="15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38160" y="1234440"/>
            <a:ext cx="3657600" cy="5212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55A11"/>
                </a:solidFill>
                <a:latin typeface="微软雅黑"/>
              </a:rPr>
              <a:t>数据集概览</a:t>
            </a:r>
            <a:endParaRPr sz="16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62,605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微软雅黑"/>
              </a:rPr>
              <a:t>条有效评论</a:t>
            </a:r>
            <a:endParaRPr sz="13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28163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10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0" y="3227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微软雅黑"/>
              </a:rPr>
              <a:t>商品类别</a:t>
            </a:r>
            <a:endParaRPr sz="13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0" y="37124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8:1:1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0" y="4123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微软雅黑"/>
              </a:rPr>
              <a:t>训练/验证/测试</a:t>
            </a:r>
            <a:endParaRPr sz="13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0" y="46085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50,000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0" y="50200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微软雅黑"/>
              </a:rPr>
              <a:t>TF-IDF 特征维度</a:t>
            </a:r>
            <a:endParaRPr sz="13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55046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7.6 秒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5916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微软雅黑"/>
              </a:rPr>
              <a:t>SVM 训练耗时（CPU）</a:t>
            </a:r>
            <a:endParaRPr sz="1300" b="0" i="0">
              <a:solidFill>
                <a:srgbClr val="BDD7E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相关工作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文本分类方法的发展历程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4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11247120" cy="7315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3255264"/>
            <a:ext cx="384048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651760" cy="196596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161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① 规则方法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664208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依赖人工规则与词典
可解释性强，维护成本高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微软雅黑"/>
              </a:rPr>
              <a:t>1990s</a:t>
            </a:r>
            <a:endParaRPr sz="13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89120" y="3255264"/>
            <a:ext cx="384048" cy="384048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651760" cy="1965960"/>
          </a:xfrm>
          <a:prstGeom prst="rect">
            <a:avLst/>
          </a:prstGeom>
          <a:solidFill>
            <a:srgbClr val="F2F2F2"/>
          </a:solidFill>
          <a:ln w="19050">
            <a:solidFill>
              <a:srgbClr val="37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188720"/>
            <a:ext cx="2651760" cy="41148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2161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② 统计机器学习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3280" y="1664208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TF-IDF + SVM / NB / LR
新闻分类、垃圾邮件过滤效果好
◀ 本文关注范畴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微软雅黑"/>
              </a:rPr>
              <a:t>2000s</a:t>
            </a:r>
            <a:endParaRPr sz="13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23760" y="3255264"/>
            <a:ext cx="384048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651760" cy="1965960"/>
          </a:xfrm>
          <a:prstGeom prst="rect">
            <a:avLst/>
          </a:prstGeom>
          <a:solidFill>
            <a:srgbClr val="F2F2F2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2161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③ 深度学习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0" y="1664208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TextCNN / TextRNN
捕捉局部/序列特征
显著优于传统方法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微软雅黑"/>
              </a:rPr>
              <a:t>2014+</a:t>
            </a:r>
            <a:endParaRPr sz="13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3255264"/>
            <a:ext cx="384048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1188720"/>
            <a:ext cx="2651760" cy="1965960"/>
          </a:xfrm>
          <a:prstGeom prst="rect">
            <a:avLst/>
          </a:prstGeom>
          <a:solidFill>
            <a:srgbClr val="F2F2F2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188720"/>
            <a:ext cx="2651760" cy="411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2161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④ 预训练模型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52560" y="1664208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BERT / BERT-wwm / MacBERT
当前主流方案，中文任务大幅领先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840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微软雅黑"/>
              </a:rPr>
              <a:t>2018+</a:t>
            </a:r>
            <a:endParaRPr sz="13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11247120" cy="1188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4E79"/>
                </a:solidFill>
                <a:latin typeface="微软雅黑"/>
              </a:rPr>
              <a:t>本文定位：聚焦阶段②，深入实现 TF-IDF + LinearSVC/MultinomialNB/LogisticRegression，为引入深度学习方法提供基线对比。</a:t>
            </a:r>
            <a:endParaRPr sz="1500" b="0" i="0">
              <a:solidFill>
                <a:srgbClr val="1F4E79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系统架构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四模块流水线设计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5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1033272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微软雅黑"/>
              </a:rPr>
              <a:t>输出文件：📊 classification_report.json　　🔥 confusion_matrix.png　　📈 metrics_bar.png　　💾 tfidf_svm_model.pkl</a:t>
            </a:r>
            <a:endParaRPr sz="1300" b="0" i="0">
              <a:solidFill>
                <a:srgbClr val="1F4E79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数据预处理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清洗 · 分词 · 划分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6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132320" cy="155448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09728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微软雅黑"/>
              </a:rPr>
              <a:t>① 数据清洗</a:t>
            </a:r>
            <a:endParaRPr sz="15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删除 cat / review 空值记录（1 条）
• 去除类别+内容重复记录（17 条）
• 过滤长度 &lt; 5 字符的短文本（151 条）
→ 62,774 条 → 62,605 条有效数据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953512"/>
            <a:ext cx="7132320" cy="1554480"/>
          </a:xfrm>
          <a:prstGeom prst="rect">
            <a:avLst/>
          </a:prstGeom>
          <a:solidFill>
            <a:srgbClr val="F2F2F2"/>
          </a:solidFill>
          <a:ln w="19050">
            <a:solidFill>
              <a:srgbClr val="37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53512"/>
            <a:ext cx="109728" cy="155448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53"/>
                </a:solidFill>
                <a:latin typeface="微软雅黑"/>
              </a:rPr>
              <a:t>② jieba 中文分词</a:t>
            </a:r>
            <a:endParaRPr sz="15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精确模式（cut_all=False）
• 基于前缀词典 + HMM，处理歧义词
• 过滤停用词与纯标点符号
例：「这款手机信号很差」→「这款 手机 信号 很 差」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4672583"/>
            <a:ext cx="7132320" cy="1554480"/>
          </a:xfrm>
          <a:prstGeom prst="rect">
            <a:avLst/>
          </a:prstGeom>
          <a:solidFill>
            <a:srgbClr val="F2F2F2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672583"/>
            <a:ext cx="109728" cy="1554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18303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  <a:latin typeface="微软雅黑"/>
              </a:rPr>
              <a:t>③ 数据集划分（分层抽样）</a:t>
            </a:r>
            <a:endParaRPr sz="15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5148071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训练集：50,083 条
• 验证集：  6,261 条
• 测试集：  6,261 条
• 各类别比例保持一致（stratified split）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63840" y="1234440"/>
            <a:ext cx="4023360" cy="5212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5A11"/>
                </a:solidFill>
                <a:latin typeface="微软雅黑"/>
              </a:rPr>
              <a:t>各类别测试集分布</a:t>
            </a:r>
            <a:endParaRPr sz="14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1828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书籍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385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0" y="18288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6.1%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55279" y="22585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平板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0" y="22585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997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15600" y="22585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15.9%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55279" y="26883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手机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26880" y="268833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229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0" y="268833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3.7%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55279" y="31181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水果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26880" y="31181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1000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0" y="3118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16.0%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55279" y="35478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洗发水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26880" y="35478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1000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15600" y="35478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16.0%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55279" y="397763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5A11"/>
                </a:solidFill>
                <a:latin typeface="微软雅黑"/>
              </a:rPr>
              <a:t>热水器</a:t>
            </a:r>
            <a:endParaRPr sz="1200" b="0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26880" y="397763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55A11"/>
                </a:solidFill>
                <a:latin typeface="微软雅黑"/>
              </a:rPr>
              <a:t>54 ⚠</a:t>
            </a:r>
            <a:endParaRPr sz="1200" b="0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15600" y="397763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0.9%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55279" y="44074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蒙牛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26880" y="44074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202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1560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3.2%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955279" y="48371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衣服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26880" y="48371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1000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515600" y="48371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16.0%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55279" y="5266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计算机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26880" y="52669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398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515600" y="526694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6.4%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55279" y="56967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酒店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26880" y="56967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软雅黑"/>
              </a:rPr>
              <a:t>996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515600" y="569671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DD7EE"/>
                </a:solidFill>
                <a:latin typeface="微软雅黑"/>
              </a:rPr>
              <a:t>15.9%</a:t>
            </a:r>
            <a:endParaRPr sz="1200" b="0" i="0">
              <a:solidFill>
                <a:srgbClr val="BDD7E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TF-IDF 特征提取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词频-逆文档频率 × Bigram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7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1737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/>
              </a:rPr>
              <a:t>核心公式</a:t>
            </a:r>
            <a:endParaRPr sz="1400" b="1" i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微软雅黑"/>
              </a:rPr>
              <a:t>TF-IDF(t, d)  =  TF(t, d)  ×  IDF(t)</a:t>
            </a:r>
            <a:endParaRPr sz="1300" b="0" i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F4E79"/>
                </a:solidFill>
                <a:latin typeface="微软雅黑"/>
              </a:rPr>
              <a:t>TF(t, d)  =  1 + log( count(t, d) )          （次线性平滑）</a:t>
            </a:r>
            <a:endParaRPr sz="1300" b="0" i="1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F4E79"/>
                </a:solidFill>
                <a:latin typeface="微软雅黑"/>
              </a:rPr>
              <a:t>IDF(t)  =  log[ (1+N) / (1+df(t)) ] + 1</a:t>
            </a:r>
            <a:endParaRPr sz="1300" b="0" i="1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56692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91440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微软雅黑"/>
              </a:rPr>
              <a:t>Bigram 特征</a:t>
            </a:r>
            <a:endParaRPr sz="14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566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ngram_range=(1,2)，同时捕捉「非常 满意」「质量 差」等短语，增强判别力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9360" y="3063240"/>
            <a:ext cx="56692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063240"/>
            <a:ext cx="91440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  <a:latin typeface="微软雅黑"/>
              </a:rPr>
              <a:t>词表大小</a:t>
            </a:r>
            <a:endParaRPr sz="14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60" y="3566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max_features=50,000，按权重保留最具区分力的 5 万个特征（含 Bigram）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56692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37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91440" cy="150876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53"/>
                </a:solidFill>
                <a:latin typeface="微软雅黑"/>
              </a:rPr>
              <a:t>频率过滤</a:t>
            </a:r>
            <a:endParaRPr sz="14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min_df=2 过滤极低频词；max_df=0.95 过滤出现在 95%+ 文档中的高频词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9360" y="4754880"/>
            <a:ext cx="56692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754880"/>
            <a:ext cx="91440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46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微软雅黑"/>
              </a:rPr>
              <a:t>L2 归一化</a:t>
            </a:r>
            <a:endParaRPr sz="14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960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消除文档长度差异影响，使短评与长评在向量空间中可比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分类模型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三种经典分类器对比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8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03320" cy="5257800"/>
          </a:xfrm>
          <a:prstGeom prst="rect">
            <a:avLst/>
          </a:prstGeom>
          <a:solidFill>
            <a:srgbClr val="F2F2F2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0332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LinearSVC</a:t>
            </a:r>
            <a:endParaRPr sz="1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线性支持向量机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微软雅黑"/>
              </a:rPr>
              <a:t>核心原理</a:t>
            </a:r>
            <a:endParaRPr sz="12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最大化类间间隔，One-vs-Rest 多分类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微软雅黑"/>
              </a:rPr>
              <a:t>主要参数</a:t>
            </a:r>
            <a:endParaRPr sz="12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C=1.0, max_iter=2000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微软雅黑"/>
              </a:rPr>
              <a:t>优　　势</a:t>
            </a:r>
            <a:endParaRPr sz="12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4242816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高维稀疏特征下速度快
训练耗时仅约 7.6s（CPU）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315468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准确率  89.23% ✓ 最优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97680" y="1234440"/>
            <a:ext cx="3703320" cy="525780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234440"/>
            <a:ext cx="3703320" cy="64008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2618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MultinomialNB</a:t>
            </a:r>
            <a:endParaRPr sz="1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16093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多项式朴素贝叶斯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840" y="19933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53"/>
                </a:solidFill>
                <a:latin typeface="微软雅黑"/>
              </a:rPr>
              <a:t>核心原理</a:t>
            </a:r>
            <a:endParaRPr sz="12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34840" y="23317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贝叶斯定理 + 特征条件独立假设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34840" y="29992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53"/>
                </a:solidFill>
                <a:latin typeface="微软雅黑"/>
              </a:rPr>
              <a:t>主要参数</a:t>
            </a:r>
            <a:endParaRPr sz="12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34840" y="33284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alpha=1.0（拉普拉斯平滑）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34840" y="3913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53"/>
                </a:solidFill>
                <a:latin typeface="微软雅黑"/>
              </a:rPr>
              <a:t>优　　势</a:t>
            </a:r>
            <a:endParaRPr sz="12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34840" y="4242816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训练预测速度极快
参数量少，内存占用低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0" y="5074920"/>
            <a:ext cx="3154680" cy="8229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1663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准确率  ~84%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0" y="1234440"/>
            <a:ext cx="3703320" cy="5257800"/>
          </a:xfrm>
          <a:prstGeom prst="rect">
            <a:avLst/>
          </a:prstGeom>
          <a:solidFill>
            <a:srgbClr val="F2F2F2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234440"/>
            <a:ext cx="3703320" cy="640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2618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Logistic
Regression</a:t>
            </a:r>
            <a:endParaRPr sz="1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21040" y="16093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逻辑回归</a:t>
            </a:r>
            <a:endParaRPr sz="12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66760" y="19933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微软雅黑"/>
              </a:rPr>
              <a:t>核心原理</a:t>
            </a:r>
            <a:endParaRPr sz="12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66760" y="23317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Softmax 建模后验概率，L2 正则化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66760" y="29992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微软雅黑"/>
              </a:rPr>
              <a:t>主要参数</a:t>
            </a:r>
            <a:endParaRPr sz="12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66760" y="33284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solver=lbfgs, max_iter=1000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66760" y="3913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微软雅黑"/>
              </a:rPr>
              <a:t>优　　势</a:t>
            </a:r>
            <a:endParaRPr sz="12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66760" y="4242816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输出概率估计
可设置置信度阈值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503920" y="5074920"/>
            <a:ext cx="3154680" cy="8229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1663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准确率  ~87%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实验设置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参数配置与复现说明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9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28600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参数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40" y="1188720"/>
            <a:ext cx="137160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取值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77639" y="1188720"/>
            <a:ext cx="256032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2344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说明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1591056"/>
            <a:ext cx="22860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16276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随机种子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06040" y="1591056"/>
            <a:ext cx="13716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276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42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77639" y="1591056"/>
            <a:ext cx="256032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162763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保证实验可复现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1993392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2029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最短文本长度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606040" y="1993392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029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5 字符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77639" y="1993392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59" y="202996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过滤无效短文本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0040" y="2395728"/>
            <a:ext cx="22860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9" y="2432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训练/验证/测试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606040" y="2395728"/>
            <a:ext cx="13716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24323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8 : 1 : 1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977639" y="2395728"/>
            <a:ext cx="256032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59" y="2432304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分层抽样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" y="2798064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9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TF-IDF 词表大小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06040" y="2798064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28346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50,000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977639" y="279806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59" y="283464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按权重取前 50k 特征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22860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32369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n-gram 范围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06040" y="3200400"/>
            <a:ext cx="13716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32369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(1, 2)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977639" y="3200400"/>
            <a:ext cx="256032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59" y="323697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Unigram + Bigram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72200" y="1188720"/>
            <a:ext cx="228600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参数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458200" y="1188720"/>
            <a:ext cx="137160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取值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829800" y="1188720"/>
            <a:ext cx="2560320" cy="40233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12344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说明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172200" y="1591056"/>
            <a:ext cx="22860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16276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sublinear_tf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458200" y="1591056"/>
            <a:ext cx="13716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16276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True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829800" y="1591056"/>
            <a:ext cx="256032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162763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使用 1+log(tf) 平滑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172200" y="1993392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2029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min_df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458200" y="1993392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0" y="2029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2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829800" y="1993392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0" y="202996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过滤超低频词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172200" y="2395728"/>
            <a:ext cx="22860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2432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max_df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458200" y="2395728"/>
            <a:ext cx="13716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24323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0.95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829800" y="2395728"/>
            <a:ext cx="256032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2432304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过滤超高频词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172200" y="2798064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SVM C 值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458200" y="2798064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28346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1.0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829800" y="279806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75520" y="283464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正则化权衡参数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172200" y="3200400"/>
            <a:ext cx="22860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0" y="32369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SVM 最大迭代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458200" y="3200400"/>
            <a:ext cx="137160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03920" y="32369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2000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829800" y="3200400"/>
            <a:ext cx="2560320" cy="40233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75520" y="323697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确保收敛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20040" y="5440680"/>
            <a:ext cx="1152144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微软雅黑"/>
              </a:rPr>
              <a:t>🖥  运行环境：Python 3.9+ | scikit-learn 1.x | jieba 0.42 | 纯 CPU 训练（无需 GPU）  ⏱  SVM 训练耗时约 7.6 秒  |  预处理（jieba 分词）约 3-5 分钟</a:t>
            </a:r>
            <a:endParaRPr sz="1300" b="0" i="0">
              <a:solidFill>
                <a:srgbClr val="BDD7E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实验结果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TF-IDF + LinearSVC 测试集表现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10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软雅黑"/>
              </a:rPr>
              <a:t>89.23%</a:t>
            </a:r>
            <a:endParaRPr sz="3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微软雅黑"/>
              </a:rPr>
              <a:t>Accuracy</a:t>
            </a:r>
            <a:endParaRPr sz="16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801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软雅黑"/>
              </a:rPr>
              <a:t>88.11%</a:t>
            </a:r>
            <a:endParaRPr sz="3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微软雅黑"/>
              </a:rPr>
              <a:t>Macro-F1</a:t>
            </a:r>
            <a:endParaRPr sz="16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657600" cy="137160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软雅黑"/>
              </a:rPr>
              <a:t>89.24%</a:t>
            </a:r>
            <a:endParaRPr sz="3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微软雅黑"/>
              </a:rPr>
              <a:t>Weighted-F1</a:t>
            </a:r>
            <a:endParaRPr sz="16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137160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5" y="2825496"/>
            <a:ext cx="1298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类别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91640" y="2788920"/>
            <a:ext cx="155448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28216" y="2825496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Precision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46120" y="2788920"/>
            <a:ext cx="155448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2825496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Recall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00600" y="2788920"/>
            <a:ext cx="164592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6" y="2825496"/>
            <a:ext cx="1572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F1-score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46520" y="2788920"/>
            <a:ext cx="118872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2825496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样本数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3172968"/>
            <a:ext cx="137160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5" y="32004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书籍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91640" y="3172968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28216" y="320040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0.956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46120" y="3172968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2696" y="320040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0.956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00600" y="3172968"/>
            <a:ext cx="16459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37176" y="320040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0.956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46520" y="3172968"/>
            <a:ext cx="11887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3096" y="320040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385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0040" y="3547872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3575304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平板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691640" y="3547872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28216" y="357530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0.806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46120" y="3547872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82696" y="357530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0.817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00600" y="3547872"/>
            <a:ext cx="16459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37176" y="3575304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0.812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46520" y="3547872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3096" y="357530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997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0040" y="3922776"/>
            <a:ext cx="137160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5" y="3950208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手机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691640" y="3922776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28216" y="3950208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0.957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246120" y="3922776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82696" y="3950208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0.873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00600" y="3922776"/>
            <a:ext cx="16459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37176" y="395020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0.913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446520" y="3922776"/>
            <a:ext cx="11887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395020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229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20040" y="4297679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5" y="4325112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水果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691640" y="4297679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28216" y="432511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0.916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46120" y="4297679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82696" y="432511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0.892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800600" y="4297679"/>
            <a:ext cx="16459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37176" y="4325112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0.904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446520" y="4297679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83096" y="4325112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1000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20040" y="4672583"/>
            <a:ext cx="137160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6615" y="470001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洗发水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691640" y="4672583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28216" y="470001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0.803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246120" y="4672583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82696" y="470001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0.876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800600" y="4672583"/>
            <a:ext cx="16459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37176" y="4700016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0.838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446520" y="4672583"/>
            <a:ext cx="11887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83096" y="470001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1000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20040" y="5047488"/>
            <a:ext cx="1371600" cy="374904"/>
          </a:xfrm>
          <a:prstGeom prst="rect">
            <a:avLst/>
          </a:prstGeom>
          <a:solidFill>
            <a:srgbClr val="FFEB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507492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微软雅黑"/>
              </a:rPr>
              <a:t>热水器</a:t>
            </a:r>
            <a:endParaRPr sz="1100" b="0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691640" y="5047488"/>
            <a:ext cx="1554480" cy="374904"/>
          </a:xfrm>
          <a:prstGeom prst="rect">
            <a:avLst/>
          </a:prstGeom>
          <a:solidFill>
            <a:srgbClr val="FFEB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28216" y="507492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微软雅黑"/>
              </a:rPr>
              <a:t>0.923</a:t>
            </a:r>
            <a:endParaRPr sz="1100" b="0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246120" y="5047488"/>
            <a:ext cx="1554480" cy="374904"/>
          </a:xfrm>
          <a:prstGeom prst="rect">
            <a:avLst/>
          </a:prstGeom>
          <a:solidFill>
            <a:srgbClr val="FFEB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82696" y="507492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微软雅黑"/>
              </a:rPr>
              <a:t>0.444</a:t>
            </a:r>
            <a:endParaRPr sz="1100" b="0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800600" y="5047488"/>
            <a:ext cx="1645920" cy="374904"/>
          </a:xfrm>
          <a:prstGeom prst="rect">
            <a:avLst/>
          </a:prstGeom>
          <a:solidFill>
            <a:srgbClr val="FFEB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37176" y="507492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微软雅黑"/>
              </a:rPr>
              <a:t>0.600</a:t>
            </a:r>
            <a:endParaRPr sz="1100" b="0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446520" y="5047488"/>
            <a:ext cx="1188720" cy="374904"/>
          </a:xfrm>
          <a:prstGeom prst="rect">
            <a:avLst/>
          </a:prstGeom>
          <a:solidFill>
            <a:srgbClr val="FFEB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83096" y="507492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微软雅黑"/>
              </a:rPr>
              <a:t>54</a:t>
            </a:r>
            <a:endParaRPr sz="1100" b="0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20040" y="5422392"/>
            <a:ext cx="1371600" cy="37490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6615" y="5449824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53"/>
                </a:solidFill>
                <a:latin typeface="微软雅黑"/>
              </a:rPr>
              <a:t>蒙牛</a:t>
            </a:r>
            <a:endParaRPr sz="1100" b="0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691640" y="5422392"/>
            <a:ext cx="1554480" cy="37490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28216" y="544982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53"/>
                </a:solidFill>
                <a:latin typeface="微软雅黑"/>
              </a:rPr>
              <a:t>1.000</a:t>
            </a:r>
            <a:endParaRPr sz="1100" b="0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246120" y="5422392"/>
            <a:ext cx="1554480" cy="37490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82696" y="544982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53"/>
                </a:solidFill>
                <a:latin typeface="微软雅黑"/>
              </a:rPr>
              <a:t>1.000</a:t>
            </a:r>
            <a:endParaRPr sz="1100" b="0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00600" y="5422392"/>
            <a:ext cx="1645920" cy="37490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37176" y="5449824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53"/>
                </a:solidFill>
                <a:latin typeface="微软雅黑"/>
              </a:rPr>
              <a:t>1.000</a:t>
            </a:r>
            <a:endParaRPr sz="1100" b="0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446520" y="5422392"/>
            <a:ext cx="1188720" cy="37490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83096" y="544982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53"/>
                </a:solidFill>
                <a:latin typeface="微软雅黑"/>
              </a:rPr>
              <a:t>202</a:t>
            </a:r>
            <a:endParaRPr sz="1100" b="0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20040" y="5797296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6615" y="5824727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衣服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691640" y="5797296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728216" y="5824727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0.876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246120" y="5797296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82696" y="5824727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0.878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800600" y="5797296"/>
            <a:ext cx="16459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37176" y="5824727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0.877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446520" y="5797296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83096" y="5824727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1000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320040" y="6172200"/>
            <a:ext cx="137160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6615" y="6199631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计算机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691640" y="6172200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728216" y="6199631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0.950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46120" y="6172200"/>
            <a:ext cx="155448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82696" y="6199631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0.910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800600" y="6172200"/>
            <a:ext cx="16459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37176" y="619963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0.929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446520" y="6172200"/>
            <a:ext cx="118872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83096" y="6199631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398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320040" y="6547104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56615" y="657453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酒店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691640" y="6547104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728216" y="657453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0.990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246120" y="6547104"/>
            <a:ext cx="15544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82696" y="657453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0.974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800600" y="6547104"/>
            <a:ext cx="16459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37176" y="6574536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0.982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6446520" y="6547104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83096" y="65745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996</a:t>
            </a:r>
            <a:endParaRPr sz="11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772400" y="2788920"/>
            <a:ext cx="4114800" cy="3657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63840" y="28346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5A11"/>
                </a:solidFill>
                <a:latin typeface="微软雅黑"/>
              </a:rPr>
              <a:t>关键发现</a:t>
            </a:r>
            <a:endParaRPr sz="14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81812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✅</a:t>
            </a:r>
            <a:endParaRPr sz="14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2753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蒙牛 F1=1.00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8275320" y="36393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微软雅黑"/>
              </a:rPr>
              <a:t>词汇特征极具区分性</a:t>
            </a:r>
            <a:endParaRPr sz="11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818120" y="39410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✅</a:t>
            </a:r>
            <a:endParaRPr sz="14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275320" y="394106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酒店 F1=0.98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275320" y="42428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微软雅黑"/>
              </a:rPr>
              <a:t>领域词汇清晰</a:t>
            </a:r>
            <a:endParaRPr sz="11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81812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✅</a:t>
            </a:r>
            <a:endParaRPr sz="14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275320" y="4544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书籍 F1=0.96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27532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微软雅黑"/>
              </a:rPr>
              <a:t>特有词汇多</a:t>
            </a:r>
            <a:endParaRPr sz="11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7818120" y="5148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⚠️</a:t>
            </a:r>
            <a:endParaRPr sz="14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275320" y="5148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热水器 Recall=0.44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275320" y="54498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微软雅黑"/>
              </a:rPr>
              <a:t>严重样本不均衡（54条）</a:t>
            </a:r>
            <a:endParaRPr sz="11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818120" y="5751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⚠️</a:t>
            </a:r>
            <a:endParaRPr sz="14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275320" y="57515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</a:rPr>
              <a:t>平板/洗发水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8275320" y="6053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微软雅黑"/>
              </a:rPr>
              <a:t>数码/消费品词汇重叠</a:t>
            </a:r>
            <a:endParaRPr sz="1100" b="0" i="0">
              <a:solidFill>
                <a:srgbClr val="BDD7E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可视化分析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混淆矩阵 &amp; 各类别指标柱状图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11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pic>
        <p:nvPicPr>
          <p:cNvPr id="7" name="Picture 6" descr="fig_confu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669280" cy="5212080"/>
          </a:xfrm>
          <a:prstGeom prst="rect">
            <a:avLst/>
          </a:prstGeom>
        </p:spPr>
      </p:pic>
      <p:pic>
        <p:nvPicPr>
          <p:cNvPr id="8" name="Picture 7" descr="fi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355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微软雅黑"/>
              </a:rPr>
              <a:t>混淆矩阵</a:t>
            </a:r>
            <a:endParaRPr sz="13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6355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微软雅黑"/>
              </a:rPr>
              <a:t>各类别 Precision / Recall / F1</a:t>
            </a:r>
            <a:endParaRPr sz="1300" b="0" i="0">
              <a:solidFill>
                <a:srgbClr val="595959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结果分析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  <a:latin typeface="微软雅黑"/>
              </a:rPr>
              <a:t>亮点解读 &amp; 局限性分析</a:t>
            </a:r>
            <a:endParaRPr sz="14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12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2144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✅ 模型亮点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蒙牛 F1=1.00：品牌词「牛奶」「蒙牛」「乳」高度区分，TF-IDF 精准捕捉</a:t>
            </a:r>
            <a:endParaRPr sz="14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酒店 F1=0.98：领域词「入住」「前台」「房间」边界清晰</a:t>
            </a:r>
            <a:endParaRPr sz="14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书籍 F1=0.96：「作者」「章节」「阅读」等专属词汇丰富</a:t>
            </a:r>
            <a:endParaRPr sz="14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整体准确率 89.23%，纯 CPU 训练仅 7.6 秒，具备实用价值</a:t>
            </a:r>
            <a:endParaRPr sz="14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3749039"/>
            <a:ext cx="115214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⚠️ 主要局限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4251960"/>
            <a:ext cx="11521440" cy="1051560"/>
          </a:xfrm>
          <a:prstGeom prst="rect">
            <a:avLst/>
          </a:prstGeom>
          <a:solidFill>
            <a:srgbClr val="FFEB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微软雅黑"/>
              </a:rPr>
              <a:t>热水器 Recall=0.444</a:t>
            </a:r>
            <a:endParaRPr sz="1300" b="1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训练样本仅 435 条（0.87%），严重类别不均衡导致分类器学习不足；
可用上采样（SMOTE）或 class_weight='balanced' 缓解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5440680"/>
            <a:ext cx="11521440" cy="1051560"/>
          </a:xfrm>
          <a:prstGeom prst="rect">
            <a:avLst/>
          </a:prstGeom>
          <a:solidFill>
            <a:srgbClr val="FFEB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微软雅黑"/>
              </a:rPr>
              <a:t>平板 / 洗发水 / 衣服混淆</a:t>
            </a:r>
            <a:endParaRPr sz="1300" b="1" i="0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数码产品（平板/手机/计算机）共享「屏幕」「性能」等词；
消费品评论风格相似，TF-IDF 无法捕捉语义关系</a:t>
            </a:r>
            <a:endParaRPr sz="1300" b="0" i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总结与展望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微软雅黑"/>
              </a:rPr>
              <a:t>13 / 14</a:t>
            </a:r>
            <a:endParaRPr sz="1100" b="0" i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94960" cy="5212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55A11"/>
                </a:solidFill>
                <a:latin typeface="微软雅黑"/>
              </a:rPr>
              <a:t>📋 工作总结</a:t>
            </a:r>
            <a:endParaRPr sz="16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构建了完整的中文文本分类流水线</a:t>
            </a:r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（数据清洗 → 分词 → TF-IDF → 训练 → 评估）</a:t>
            </a:r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798063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TF-IDF + LinearSVC 取得：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13639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  • 准确率 89.23%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  • Macro-F1  88.11%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8130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  • 训练耗时  7.6 秒（纯 CPU）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44897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对比三种经典分类器：</a:t>
            </a:r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  LinearSVC &gt; 逻辑回归 &gt; 朴素贝叶斯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55046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验证了传统机器学习方法在中文</a:t>
            </a:r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8430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评论分类任务上的有效性</a:t>
            </a:r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35040" y="1188720"/>
            <a:ext cx="612648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61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微软雅黑"/>
              </a:rPr>
              <a:t>🔭 未来展望</a:t>
            </a:r>
            <a:endParaRPr sz="1600" b="1" i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80760" y="1828800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1828800"/>
            <a:ext cx="914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8653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微软雅黑"/>
              </a:rPr>
              <a:t>改进特征工程</a:t>
            </a:r>
            <a:endParaRPr sz="1300" b="1" i="0">
              <a:solidFill>
                <a:srgbClr val="2E75B6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223113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引入停用词词典进一步净化特征空间；
字符级 n-gram 补充词汇覆盖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80760" y="2907791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2907791"/>
            <a:ext cx="91440" cy="9601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944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5A11"/>
                </a:solidFill>
                <a:latin typeface="微软雅黑"/>
              </a:rPr>
              <a:t>引入词/句向量</a:t>
            </a:r>
            <a:endParaRPr sz="1300" b="1" i="0">
              <a:solidFill>
                <a:srgbClr val="C55A11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3310127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Word2Vec / fastText 引入语义信息；
BERT 预训练模型替代 TF-IDF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80760" y="3986783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3986783"/>
            <a:ext cx="91440" cy="960120"/>
          </a:xfrm>
          <a:prstGeom prst="rect">
            <a:avLst/>
          </a:prstGeom>
          <a:solidFill>
            <a:srgbClr val="37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0233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53"/>
                </a:solidFill>
                <a:latin typeface="微软雅黑"/>
              </a:rPr>
              <a:t>解决类别不均衡</a:t>
            </a:r>
            <a:endParaRPr sz="1300" b="1" i="0">
              <a:solidFill>
                <a:srgbClr val="378653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63640" y="43891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SMOTE 上采样 / class_weight 代价敏感；
针对热水器等少数类增加数据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80760" y="5065776"/>
            <a:ext cx="5943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5065776"/>
            <a:ext cx="91440" cy="9601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102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微软雅黑"/>
              </a:rPr>
              <a:t>深度学习对比</a:t>
            </a:r>
            <a:endParaRPr sz="1300" b="1" i="0">
              <a:solidFill>
                <a:srgbClr val="7B2FBE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63640" y="546811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TextCNN / TextRNN 与本文基线对比；
量化深度模型的提升幅度</a:t>
            </a:r>
            <a:endParaRPr sz="1200" b="0" i="0">
              <a:solidFill>
                <a:srgbClr val="1A1A1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微软雅黑"/>
              </a:rPr>
              <a:t>感  谢  聆  听</a:t>
            </a:r>
            <a:endParaRPr sz="5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3931920" cy="6400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DD7EE"/>
                </a:solidFill>
                <a:latin typeface="微软雅黑"/>
              </a:rPr>
              <a:t>敬请各位老师批评指正</a:t>
            </a:r>
            <a:endParaRPr sz="2200" b="0" i="0">
              <a:solidFill>
                <a:srgbClr val="BDD7EE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95959"/>
                </a:solidFill>
                <a:latin typeface="微软雅黑"/>
              </a:rPr>
              <a:t>课程：自然语言处理　|　重庆邮电大学　|　2025-2026 学年第 2 学期</a:t>
            </a:r>
            <a:endParaRPr sz="1500" b="0" i="0">
              <a:solidFill>
                <a:srgbClr val="595959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3543</Words>
  <Application>WPS 文字</Application>
  <PresentationFormat>On-screen Show (4:3)</PresentationFormat>
  <Paragraphs>626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LO</cp:lastModifiedBy>
  <cp:revision>2</cp:revision>
  <dcterms:created xsi:type="dcterms:W3CDTF">2026-06-02T08:33:09Z</dcterms:created>
  <dcterms:modified xsi:type="dcterms:W3CDTF">2026-06-02T08:33:09Z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FC7528B01EB4E41545951E6A09A742F4_42</vt:lpwstr>
  </property>
</Properties>
</file>